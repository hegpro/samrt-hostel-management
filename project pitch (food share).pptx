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randir Narrow" panose="020B0604020202020204" charset="0"/>
      <p:regular r:id="rId12"/>
    </p:embeddedFont>
    <p:embeddedFont>
      <p:font typeface="Agrandir Narrow Bold" panose="020B0604020202020204" charset="0"/>
      <p:regular r:id="rId13"/>
    </p:embeddedFont>
    <p:embeddedFont>
      <p:font typeface="Ruda" panose="020B0604020202020204" charset="0"/>
      <p:regular r:id="rId14"/>
    </p:embeddedFont>
    <p:embeddedFont>
      <p:font typeface="Ruda Bold" panose="020B0604020202020204" charset="0"/>
      <p:regular r:id="rId15"/>
    </p:embeddedFont>
    <p:embeddedFont>
      <p:font typeface="Rustic Printe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7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" y="0"/>
            <a:ext cx="14814206" cy="9716603"/>
          </a:xfrm>
          <a:custGeom>
            <a:avLst/>
            <a:gdLst/>
            <a:ahLst/>
            <a:cxnLst/>
            <a:rect l="l" t="t" r="r" b="b"/>
            <a:pathLst>
              <a:path w="14814206" h="9716603">
                <a:moveTo>
                  <a:pt x="0" y="0"/>
                </a:moveTo>
                <a:lnTo>
                  <a:pt x="14814207" y="0"/>
                </a:lnTo>
                <a:lnTo>
                  <a:pt x="14814207" y="9716603"/>
                </a:lnTo>
                <a:lnTo>
                  <a:pt x="0" y="971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t="-161" b="-1416"/>
            </a:stretch>
          </a:blipFill>
          <a:ln cap="rnd">
            <a:noFill/>
            <a:prstDash val="solid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2514600" y="-190500"/>
            <a:ext cx="13030200" cy="3055628"/>
          </a:xfrm>
          <a:prstGeom prst="rect">
            <a:avLst/>
          </a:prstGeom>
          <a:effectLst>
            <a:outerShdw blurRad="914400" dist="38100" dir="2700000" algn="tl" rotWithShape="0">
              <a:prstClr val="black"/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9"/>
              </a:lnSpc>
            </a:pPr>
            <a:r>
              <a:rPr lang="en-US" sz="8699" dirty="0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FOOD SURPLUS DISTRIBUTION PLATFORM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52809" y="3509943"/>
            <a:ext cx="14194083" cy="1455420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Connecting surplus food providers with NGOs and shelters in real time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94634" y="6118292"/>
            <a:ext cx="10098732" cy="2941320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Aditya </a:t>
            </a:r>
            <a:r>
              <a:rPr lang="en-US" sz="4200" b="1" dirty="0" err="1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Honnakasturi</a:t>
            </a:r>
            <a:r>
              <a:rPr lang="en-US" sz="4200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           2SD23IS006</a:t>
            </a:r>
          </a:p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Pratham Hegde                     2SD23IS034</a:t>
            </a:r>
          </a:p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Kiran </a:t>
            </a:r>
            <a:r>
              <a:rPr lang="en-US" sz="4200" b="1" dirty="0" err="1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Jantgal</a:t>
            </a:r>
            <a:r>
              <a:rPr lang="en-US" sz="4200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                           2SD24IS402</a:t>
            </a:r>
          </a:p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Pradyumna Naik                    2SD23IS032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1049000" y="1104900"/>
            <a:ext cx="6993867" cy="8792343"/>
          </a:xfrm>
          <a:custGeom>
            <a:avLst/>
            <a:gdLst/>
            <a:ahLst/>
            <a:cxnLst/>
            <a:rect l="l" t="t" r="r" b="b"/>
            <a:pathLst>
              <a:path w="6993867" h="8792343">
                <a:moveTo>
                  <a:pt x="0" y="0"/>
                </a:moveTo>
                <a:lnTo>
                  <a:pt x="6993867" y="0"/>
                </a:lnTo>
                <a:lnTo>
                  <a:pt x="6993867" y="8792344"/>
                </a:lnTo>
                <a:lnTo>
                  <a:pt x="0" y="879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99" r="-2197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6" name="TextBox 6"/>
          <p:cNvSpPr txBox="1"/>
          <p:nvPr/>
        </p:nvSpPr>
        <p:spPr>
          <a:xfrm>
            <a:off x="1028700" y="485775"/>
            <a:ext cx="9453254" cy="2297299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7"/>
              </a:lnSpc>
            </a:pPr>
            <a:r>
              <a:rPr lang="en-US" sz="11555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3674" y="3055820"/>
            <a:ext cx="10393272" cy="633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2080" lvl="1" indent="-571500" algn="just">
              <a:lnSpc>
                <a:spcPts val="633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18" b="1" u="none" strike="noStrike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Large quantities of food are wasted in weddings, college fests, and functions due to uncertain turnout</a:t>
            </a:r>
          </a:p>
          <a:p>
            <a:pPr marL="962080" lvl="1" indent="-571500" algn="just">
              <a:lnSpc>
                <a:spcPts val="633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18" b="1" u="none" strike="noStrike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NGOs and shelters often lack food on the same day</a:t>
            </a:r>
          </a:p>
          <a:p>
            <a:pPr marL="962080" lvl="1" indent="-571500" algn="just">
              <a:lnSpc>
                <a:spcPts val="633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18" b="1" u="none" strike="noStrike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No structured platform to connect event organizers with NGOs in real-time</a:t>
            </a:r>
          </a:p>
          <a:p>
            <a:pPr algn="just">
              <a:lnSpc>
                <a:spcPts val="6331"/>
              </a:lnSpc>
              <a:spcBef>
                <a:spcPct val="0"/>
              </a:spcBef>
            </a:pPr>
            <a:endParaRPr lang="en-US" sz="3618" b="1" u="none" strike="noStrike" dirty="0">
              <a:solidFill>
                <a:srgbClr val="FFFFFF"/>
              </a:solidFill>
              <a:latin typeface="Ruda Bold"/>
              <a:ea typeface="Ruda Bold"/>
              <a:cs typeface="Ruda Bold"/>
              <a:sym typeface="Ruda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8222" y="3354248"/>
            <a:ext cx="1026435" cy="869670"/>
          </a:xfrm>
          <a:custGeom>
            <a:avLst/>
            <a:gdLst/>
            <a:ahLst/>
            <a:cxnLst/>
            <a:rect l="l" t="t" r="r" b="b"/>
            <a:pathLst>
              <a:path w="1026435" h="869670">
                <a:moveTo>
                  <a:pt x="0" y="0"/>
                </a:moveTo>
                <a:lnTo>
                  <a:pt x="1026435" y="0"/>
                </a:lnTo>
                <a:lnTo>
                  <a:pt x="1026435" y="869670"/>
                </a:lnTo>
                <a:lnTo>
                  <a:pt x="0" y="8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38222" y="4890005"/>
            <a:ext cx="1026435" cy="869670"/>
          </a:xfrm>
          <a:custGeom>
            <a:avLst/>
            <a:gdLst/>
            <a:ahLst/>
            <a:cxnLst/>
            <a:rect l="l" t="t" r="r" b="b"/>
            <a:pathLst>
              <a:path w="1026435" h="869670">
                <a:moveTo>
                  <a:pt x="0" y="0"/>
                </a:moveTo>
                <a:lnTo>
                  <a:pt x="1026435" y="0"/>
                </a:lnTo>
                <a:lnTo>
                  <a:pt x="1026435" y="869670"/>
                </a:lnTo>
                <a:lnTo>
                  <a:pt x="0" y="8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38222" y="6426425"/>
            <a:ext cx="1026435" cy="869670"/>
          </a:xfrm>
          <a:custGeom>
            <a:avLst/>
            <a:gdLst/>
            <a:ahLst/>
            <a:cxnLst/>
            <a:rect l="l" t="t" r="r" b="b"/>
            <a:pathLst>
              <a:path w="1026435" h="869670">
                <a:moveTo>
                  <a:pt x="0" y="0"/>
                </a:moveTo>
                <a:lnTo>
                  <a:pt x="1026435" y="0"/>
                </a:lnTo>
                <a:lnTo>
                  <a:pt x="1026435" y="869670"/>
                </a:lnTo>
                <a:lnTo>
                  <a:pt x="0" y="8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38222" y="7962845"/>
            <a:ext cx="1026435" cy="869670"/>
          </a:xfrm>
          <a:custGeom>
            <a:avLst/>
            <a:gdLst/>
            <a:ahLst/>
            <a:cxnLst/>
            <a:rect l="l" t="t" r="r" b="b"/>
            <a:pathLst>
              <a:path w="1026435" h="869670">
                <a:moveTo>
                  <a:pt x="0" y="0"/>
                </a:moveTo>
                <a:lnTo>
                  <a:pt x="1026435" y="0"/>
                </a:lnTo>
                <a:lnTo>
                  <a:pt x="1026435" y="869670"/>
                </a:lnTo>
                <a:lnTo>
                  <a:pt x="0" y="8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37874" y="647699"/>
            <a:ext cx="15554726" cy="1825756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273"/>
              </a:lnSpc>
              <a:spcBef>
                <a:spcPct val="0"/>
              </a:spcBef>
            </a:pPr>
            <a:r>
              <a:rPr lang="en-US" sz="10909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Why Focus on Events?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3713" y="3404255"/>
            <a:ext cx="13696414" cy="69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21"/>
              </a:lnSpc>
              <a:spcBef>
                <a:spcPct val="0"/>
              </a:spcBef>
            </a:pPr>
            <a:r>
              <a:rPr lang="en-US" sz="4086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Events generate the highest surplus food in short time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53713" y="4938759"/>
            <a:ext cx="13012779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Food is prepared in bulk, making distribution easier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53713" y="6475179"/>
            <a:ext cx="14105587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Events happen regularly in colleges, weddings, functions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68341" y="8011600"/>
            <a:ext cx="12037695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Strong opportunity to reduce wastage quickly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 build="allAtOnce"/>
      <p:bldP spid="9" grpId="0" build="allAtOnce"/>
      <p:bldP spid="10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35538" y="606903"/>
            <a:ext cx="4503967" cy="9073229"/>
            <a:chOff x="0" y="0"/>
            <a:chExt cx="1186180" cy="2389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6180" cy="2389759"/>
            </a:xfrm>
            <a:custGeom>
              <a:avLst/>
              <a:gdLst/>
              <a:ahLst/>
              <a:cxnLst/>
              <a:rect l="l" t="t" r="r" b="b"/>
              <a:pathLst>
                <a:path w="1186180" h="2389759">
                  <a:moveTo>
                    <a:pt x="1186180" y="37816"/>
                  </a:moveTo>
                  <a:lnTo>
                    <a:pt x="1186180" y="2351943"/>
                  </a:lnTo>
                  <a:cubicBezTo>
                    <a:pt x="1186180" y="2372828"/>
                    <a:pt x="1169249" y="2389759"/>
                    <a:pt x="1148364" y="2389759"/>
                  </a:cubicBezTo>
                  <a:lnTo>
                    <a:pt x="37816" y="2389759"/>
                  </a:lnTo>
                  <a:cubicBezTo>
                    <a:pt x="16931" y="2389759"/>
                    <a:pt x="0" y="2372828"/>
                    <a:pt x="0" y="2351943"/>
                  </a:cubicBezTo>
                  <a:lnTo>
                    <a:pt x="0" y="37816"/>
                  </a:lnTo>
                  <a:cubicBezTo>
                    <a:pt x="0" y="16931"/>
                    <a:pt x="16931" y="0"/>
                    <a:pt x="37816" y="0"/>
                  </a:cubicBezTo>
                  <a:lnTo>
                    <a:pt x="1148364" y="0"/>
                  </a:lnTo>
                  <a:cubicBezTo>
                    <a:pt x="1158393" y="0"/>
                    <a:pt x="1168012" y="3984"/>
                    <a:pt x="1175104" y="11076"/>
                  </a:cubicBezTo>
                  <a:cubicBezTo>
                    <a:pt x="1182196" y="18168"/>
                    <a:pt x="1186180" y="27787"/>
                    <a:pt x="1186180" y="378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86180" cy="2475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57660" y="-12829"/>
            <a:ext cx="10584173" cy="2162674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7"/>
              </a:lnSpc>
            </a:pPr>
            <a:r>
              <a:rPr lang="en-US" sz="10855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OUR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7139" y="1829374"/>
            <a:ext cx="12255181" cy="923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00"/>
              </a:lnSpc>
            </a:pPr>
            <a:r>
              <a:rPr lang="en-US" sz="4141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A Food Surplus Distribution Platform (Web + Mobile App) to:</a:t>
            </a:r>
          </a:p>
          <a:p>
            <a:pPr marL="894190" lvl="1" indent="-447095" algn="l">
              <a:lnSpc>
                <a:spcPts val="8200"/>
              </a:lnSpc>
              <a:buFont typeface="Arial"/>
              <a:buChar char="•"/>
            </a:pPr>
            <a:r>
              <a:rPr lang="en-US" sz="4141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Enable providers to post surplus food details instantly</a:t>
            </a:r>
          </a:p>
          <a:p>
            <a:pPr marL="894190" lvl="1" indent="-447095" algn="l">
              <a:lnSpc>
                <a:spcPts val="8200"/>
              </a:lnSpc>
              <a:buFont typeface="Arial"/>
              <a:buChar char="•"/>
            </a:pPr>
            <a:r>
              <a:rPr lang="en-US" sz="4141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Notify NGOs nearby in real-time</a:t>
            </a:r>
          </a:p>
          <a:p>
            <a:pPr marL="894190" lvl="1" indent="-447095" algn="l">
              <a:lnSpc>
                <a:spcPts val="8200"/>
              </a:lnSpc>
              <a:buFont typeface="Arial"/>
              <a:buChar char="•"/>
            </a:pPr>
            <a:r>
              <a:rPr lang="en-US" sz="4141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Facilitate quick claim, pickup, and distribution</a:t>
            </a:r>
          </a:p>
          <a:p>
            <a:pPr marL="894190" lvl="1" indent="-447095" algn="l">
              <a:lnSpc>
                <a:spcPts val="8200"/>
              </a:lnSpc>
              <a:buFont typeface="Arial"/>
              <a:buChar char="•"/>
            </a:pPr>
            <a:r>
              <a:rPr lang="en-US" sz="4141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Track and analyze food saved and shared</a:t>
            </a:r>
          </a:p>
          <a:p>
            <a:pPr algn="l">
              <a:lnSpc>
                <a:spcPts val="8200"/>
              </a:lnSpc>
            </a:pPr>
            <a:endParaRPr lang="en-US" sz="4141" b="1" dirty="0">
              <a:solidFill>
                <a:srgbClr val="FFFFFF"/>
              </a:solidFill>
              <a:latin typeface="Ruda Bold"/>
              <a:ea typeface="Ruda Bold"/>
              <a:cs typeface="Ruda Bold"/>
              <a:sym typeface="Ruda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744472" y="1630633"/>
            <a:ext cx="3086100" cy="1038424"/>
            <a:chOff x="0" y="0"/>
            <a:chExt cx="812800" cy="2734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73494"/>
            </a:xfrm>
            <a:custGeom>
              <a:avLst/>
              <a:gdLst/>
              <a:ahLst/>
              <a:cxnLst/>
              <a:rect l="l" t="t" r="r" b="b"/>
              <a:pathLst>
                <a:path w="812800" h="273494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30848"/>
                  </a:lnTo>
                  <a:cubicBezTo>
                    <a:pt x="812800" y="254401"/>
                    <a:pt x="793706" y="273494"/>
                    <a:pt x="770153" y="273494"/>
                  </a:cubicBezTo>
                  <a:lnTo>
                    <a:pt x="42647" y="273494"/>
                  </a:lnTo>
                  <a:cubicBezTo>
                    <a:pt x="31336" y="273494"/>
                    <a:pt x="20489" y="269001"/>
                    <a:pt x="12491" y="261003"/>
                  </a:cubicBezTo>
                  <a:cubicBezTo>
                    <a:pt x="4493" y="253006"/>
                    <a:pt x="0" y="242158"/>
                    <a:pt x="0" y="23084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A7E3A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812800" cy="425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Provider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44472" y="3390701"/>
            <a:ext cx="3086100" cy="1038424"/>
            <a:chOff x="0" y="0"/>
            <a:chExt cx="812800" cy="2734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273494"/>
            </a:xfrm>
            <a:custGeom>
              <a:avLst/>
              <a:gdLst/>
              <a:ahLst/>
              <a:cxnLst/>
              <a:rect l="l" t="t" r="r" b="b"/>
              <a:pathLst>
                <a:path w="812800" h="273494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30848"/>
                  </a:lnTo>
                  <a:cubicBezTo>
                    <a:pt x="812800" y="254401"/>
                    <a:pt x="793706" y="273494"/>
                    <a:pt x="770153" y="273494"/>
                  </a:cubicBezTo>
                  <a:lnTo>
                    <a:pt x="42647" y="273494"/>
                  </a:lnTo>
                  <a:cubicBezTo>
                    <a:pt x="31336" y="273494"/>
                    <a:pt x="20489" y="269001"/>
                    <a:pt x="12491" y="261003"/>
                  </a:cubicBezTo>
                  <a:cubicBezTo>
                    <a:pt x="4493" y="253006"/>
                    <a:pt x="0" y="242158"/>
                    <a:pt x="0" y="23084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3B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52400"/>
              <a:ext cx="812800" cy="425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Platform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44472" y="5143500"/>
            <a:ext cx="3086100" cy="1038424"/>
            <a:chOff x="0" y="0"/>
            <a:chExt cx="812800" cy="2734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273494"/>
            </a:xfrm>
            <a:custGeom>
              <a:avLst/>
              <a:gdLst/>
              <a:ahLst/>
              <a:cxnLst/>
              <a:rect l="l" t="t" r="r" b="b"/>
              <a:pathLst>
                <a:path w="812800" h="273494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30848"/>
                  </a:lnTo>
                  <a:cubicBezTo>
                    <a:pt x="812800" y="254401"/>
                    <a:pt x="793706" y="273494"/>
                    <a:pt x="770153" y="273494"/>
                  </a:cubicBezTo>
                  <a:lnTo>
                    <a:pt x="42647" y="273494"/>
                  </a:lnTo>
                  <a:cubicBezTo>
                    <a:pt x="31336" y="273494"/>
                    <a:pt x="20489" y="269001"/>
                    <a:pt x="12491" y="261003"/>
                  </a:cubicBezTo>
                  <a:cubicBezTo>
                    <a:pt x="4493" y="253006"/>
                    <a:pt x="0" y="242158"/>
                    <a:pt x="0" y="23084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B3E5F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52400"/>
              <a:ext cx="812800" cy="425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NGO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44472" y="6896299"/>
            <a:ext cx="3086100" cy="1038424"/>
            <a:chOff x="0" y="0"/>
            <a:chExt cx="812800" cy="2734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273494"/>
            </a:xfrm>
            <a:custGeom>
              <a:avLst/>
              <a:gdLst/>
              <a:ahLst/>
              <a:cxnLst/>
              <a:rect l="l" t="t" r="r" b="b"/>
              <a:pathLst>
                <a:path w="812800" h="273494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30848"/>
                  </a:lnTo>
                  <a:cubicBezTo>
                    <a:pt x="812800" y="254401"/>
                    <a:pt x="793706" y="273494"/>
                    <a:pt x="770153" y="273494"/>
                  </a:cubicBezTo>
                  <a:lnTo>
                    <a:pt x="42647" y="273494"/>
                  </a:lnTo>
                  <a:cubicBezTo>
                    <a:pt x="31336" y="273494"/>
                    <a:pt x="20489" y="269001"/>
                    <a:pt x="12491" y="261003"/>
                  </a:cubicBezTo>
                  <a:cubicBezTo>
                    <a:pt x="4493" y="253006"/>
                    <a:pt x="0" y="242158"/>
                    <a:pt x="0" y="23084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CD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52400"/>
              <a:ext cx="812800" cy="425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People in need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515997" y="2669057"/>
            <a:ext cx="1543050" cy="838250"/>
            <a:chOff x="0" y="0"/>
            <a:chExt cx="406400" cy="2207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220774"/>
            </a:xfrm>
            <a:custGeom>
              <a:avLst/>
              <a:gdLst/>
              <a:ahLst/>
              <a:cxnLst/>
              <a:rect l="l" t="t" r="r" b="b"/>
              <a:pathLst>
                <a:path w="406400" h="220774">
                  <a:moveTo>
                    <a:pt x="203200" y="220774"/>
                  </a:moveTo>
                  <a:lnTo>
                    <a:pt x="406400" y="0"/>
                  </a:lnTo>
                  <a:lnTo>
                    <a:pt x="0" y="0"/>
                  </a:lnTo>
                  <a:lnTo>
                    <a:pt x="203200" y="220774"/>
                  </a:lnTo>
                  <a:close/>
                </a:path>
              </a:pathLst>
            </a:custGeom>
            <a:solidFill>
              <a:srgbClr val="FFF3B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63500" y="-69955"/>
              <a:ext cx="279400" cy="18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15997" y="4425491"/>
            <a:ext cx="1543050" cy="838250"/>
            <a:chOff x="0" y="0"/>
            <a:chExt cx="406400" cy="22077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6400" cy="220774"/>
            </a:xfrm>
            <a:custGeom>
              <a:avLst/>
              <a:gdLst/>
              <a:ahLst/>
              <a:cxnLst/>
              <a:rect l="l" t="t" r="r" b="b"/>
              <a:pathLst>
                <a:path w="406400" h="220774">
                  <a:moveTo>
                    <a:pt x="203200" y="220774"/>
                  </a:moveTo>
                  <a:lnTo>
                    <a:pt x="406400" y="0"/>
                  </a:lnTo>
                  <a:lnTo>
                    <a:pt x="0" y="0"/>
                  </a:lnTo>
                  <a:lnTo>
                    <a:pt x="203200" y="220774"/>
                  </a:lnTo>
                  <a:close/>
                </a:path>
              </a:pathLst>
            </a:custGeom>
            <a:solidFill>
              <a:srgbClr val="B3E5FC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63500" y="-69955"/>
              <a:ext cx="279400" cy="18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515997" y="6181924"/>
            <a:ext cx="1543050" cy="838250"/>
            <a:chOff x="0" y="0"/>
            <a:chExt cx="406400" cy="2207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6400" cy="220774"/>
            </a:xfrm>
            <a:custGeom>
              <a:avLst/>
              <a:gdLst/>
              <a:ahLst/>
              <a:cxnLst/>
              <a:rect l="l" t="t" r="r" b="b"/>
              <a:pathLst>
                <a:path w="406400" h="220774">
                  <a:moveTo>
                    <a:pt x="203200" y="220774"/>
                  </a:moveTo>
                  <a:lnTo>
                    <a:pt x="406400" y="0"/>
                  </a:lnTo>
                  <a:lnTo>
                    <a:pt x="0" y="0"/>
                  </a:lnTo>
                  <a:lnTo>
                    <a:pt x="203200" y="220774"/>
                  </a:lnTo>
                  <a:close/>
                </a:path>
              </a:pathLst>
            </a:custGeom>
            <a:solidFill>
              <a:srgbClr val="FFCD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63500" y="-69955"/>
              <a:ext cx="279400" cy="18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68097" y="4141118"/>
            <a:ext cx="5648246" cy="4877895"/>
            <a:chOff x="0" y="0"/>
            <a:chExt cx="1625138" cy="14034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138" cy="1403477"/>
            </a:xfrm>
            <a:custGeom>
              <a:avLst/>
              <a:gdLst/>
              <a:ahLst/>
              <a:cxnLst/>
              <a:rect l="l" t="t" r="r" b="b"/>
              <a:pathLst>
                <a:path w="1625138" h="1403477">
                  <a:moveTo>
                    <a:pt x="1625138" y="27414"/>
                  </a:moveTo>
                  <a:lnTo>
                    <a:pt x="1625138" y="1376063"/>
                  </a:lnTo>
                  <a:cubicBezTo>
                    <a:pt x="1625138" y="1383334"/>
                    <a:pt x="1622250" y="1390307"/>
                    <a:pt x="1617109" y="1395448"/>
                  </a:cubicBezTo>
                  <a:cubicBezTo>
                    <a:pt x="1611968" y="1400589"/>
                    <a:pt x="1604995" y="1403477"/>
                    <a:pt x="1597724" y="1403477"/>
                  </a:cubicBezTo>
                  <a:lnTo>
                    <a:pt x="27414" y="1403477"/>
                  </a:lnTo>
                  <a:cubicBezTo>
                    <a:pt x="20143" y="1403477"/>
                    <a:pt x="13170" y="1400589"/>
                    <a:pt x="8029" y="1395448"/>
                  </a:cubicBezTo>
                  <a:cubicBezTo>
                    <a:pt x="2888" y="1390307"/>
                    <a:pt x="0" y="1383334"/>
                    <a:pt x="0" y="1376063"/>
                  </a:cubicBezTo>
                  <a:lnTo>
                    <a:pt x="0" y="27414"/>
                  </a:lnTo>
                  <a:cubicBezTo>
                    <a:pt x="0" y="20143"/>
                    <a:pt x="2888" y="13170"/>
                    <a:pt x="8029" y="8029"/>
                  </a:cubicBezTo>
                  <a:cubicBezTo>
                    <a:pt x="13170" y="2888"/>
                    <a:pt x="20143" y="0"/>
                    <a:pt x="27414" y="0"/>
                  </a:cubicBezTo>
                  <a:lnTo>
                    <a:pt x="1597724" y="0"/>
                  </a:lnTo>
                  <a:cubicBezTo>
                    <a:pt x="1604995" y="0"/>
                    <a:pt x="1611968" y="2888"/>
                    <a:pt x="1617109" y="8029"/>
                  </a:cubicBezTo>
                  <a:cubicBezTo>
                    <a:pt x="1622250" y="13170"/>
                    <a:pt x="1625138" y="20143"/>
                    <a:pt x="1625138" y="274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625138" cy="1489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350878" y="4423433"/>
            <a:ext cx="4908422" cy="4236151"/>
          </a:xfrm>
          <a:custGeom>
            <a:avLst/>
            <a:gdLst/>
            <a:ahLst/>
            <a:cxnLst/>
            <a:rect l="l" t="t" r="r" b="b"/>
            <a:pathLst>
              <a:path w="4908422" h="4236151">
                <a:moveTo>
                  <a:pt x="0" y="0"/>
                </a:moveTo>
                <a:lnTo>
                  <a:pt x="4908422" y="0"/>
                </a:lnTo>
                <a:lnTo>
                  <a:pt x="4908422" y="4236152"/>
                </a:lnTo>
                <a:lnTo>
                  <a:pt x="0" y="4236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189" b="-19565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6" name="TextBox 6"/>
          <p:cNvSpPr txBox="1"/>
          <p:nvPr/>
        </p:nvSpPr>
        <p:spPr>
          <a:xfrm>
            <a:off x="1236281" y="314722"/>
            <a:ext cx="15939140" cy="1554486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sz="7799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Why NGOs Need Our Solution?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9667" y="2847363"/>
            <a:ext cx="17136070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“40% of food from large events goes to waste, while NGOs struggle daily to feed millions.”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1307" y="4934372"/>
            <a:ext cx="10839558" cy="36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806" lvl="1" indent="-372403" algn="just">
              <a:lnSpc>
                <a:spcPts val="4829"/>
              </a:lnSpc>
              <a:spcBef>
                <a:spcPct val="0"/>
              </a:spcBef>
              <a:buFont typeface="Arial"/>
              <a:buChar char="•"/>
            </a:pPr>
            <a:r>
              <a:rPr lang="en-US" sz="344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Over </a:t>
            </a:r>
            <a:r>
              <a:rPr lang="en-US" sz="3449" b="1" u="sng" dirty="0">
                <a:solidFill>
                  <a:srgbClr val="FFF3B0"/>
                </a:solidFill>
                <a:latin typeface="Ruda Bold"/>
                <a:ea typeface="Ruda Bold"/>
                <a:cs typeface="Ruda Bold"/>
                <a:sym typeface="Ruda Bold"/>
              </a:rPr>
              <a:t>7.5 crore people</a:t>
            </a:r>
            <a:r>
              <a:rPr lang="en-US" sz="344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 fed by NGOs every year in India</a:t>
            </a:r>
          </a:p>
          <a:p>
            <a:pPr marL="744806" lvl="1" indent="-372403" algn="just">
              <a:lnSpc>
                <a:spcPts val="4829"/>
              </a:lnSpc>
              <a:spcBef>
                <a:spcPct val="0"/>
              </a:spcBef>
              <a:buFont typeface="Arial"/>
              <a:buChar char="•"/>
            </a:pPr>
            <a:r>
              <a:rPr lang="en-US" sz="344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Shelter homes &amp; orphanages rely heavily on NGO support</a:t>
            </a:r>
          </a:p>
          <a:p>
            <a:pPr marL="744806" lvl="1" indent="-372403" algn="just">
              <a:lnSpc>
                <a:spcPts val="4829"/>
              </a:lnSpc>
              <a:spcBef>
                <a:spcPct val="0"/>
              </a:spcBef>
              <a:buFont typeface="Arial"/>
              <a:buChar char="•"/>
            </a:pPr>
            <a:r>
              <a:rPr lang="en-US" sz="3449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Even 10 wasted meals → 7 could feed the needy</a:t>
            </a:r>
          </a:p>
          <a:p>
            <a:pPr algn="just">
              <a:lnSpc>
                <a:spcPts val="4829"/>
              </a:lnSpc>
              <a:spcBef>
                <a:spcPct val="0"/>
              </a:spcBef>
            </a:pPr>
            <a:endParaRPr lang="en-US" sz="3449" b="1" dirty="0">
              <a:solidFill>
                <a:srgbClr val="FFFFFF"/>
              </a:solidFill>
              <a:latin typeface="Ruda Bold"/>
              <a:ea typeface="Ruda Bold"/>
              <a:cs typeface="Ruda Bold"/>
              <a:sym typeface="Ruda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317" y="2617902"/>
            <a:ext cx="7753033" cy="624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365" lvl="1" indent="-342683" algn="just">
              <a:lnSpc>
                <a:spcPts val="6253"/>
              </a:lnSpc>
              <a:buAutoNum type="arabicPeriod"/>
            </a:pPr>
            <a:r>
              <a:rPr lang="en-US" sz="317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Surplus food often discarded</a:t>
            </a:r>
          </a:p>
          <a:p>
            <a:pPr marL="685365" lvl="1" indent="-342683" algn="just">
              <a:lnSpc>
                <a:spcPts val="6253"/>
              </a:lnSpc>
              <a:buAutoNum type="arabicPeriod"/>
            </a:pPr>
            <a:r>
              <a:rPr lang="en-US" sz="317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NGOs depend on calls/WhatsApp</a:t>
            </a:r>
          </a:p>
          <a:p>
            <a:pPr marL="685365" lvl="1" indent="-342683" algn="just">
              <a:lnSpc>
                <a:spcPts val="6253"/>
              </a:lnSpc>
              <a:buAutoNum type="arabicPeriod"/>
            </a:pPr>
            <a:r>
              <a:rPr lang="en-US" sz="317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No records or analytics</a:t>
            </a:r>
          </a:p>
          <a:p>
            <a:pPr marL="685365" lvl="1" indent="-342683" algn="just">
              <a:lnSpc>
                <a:spcPts val="6253"/>
              </a:lnSpc>
              <a:buAutoNum type="arabicPeriod"/>
            </a:pPr>
            <a:r>
              <a:rPr lang="en-US" sz="317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Delays in food collection due to lack of coordination</a:t>
            </a:r>
          </a:p>
          <a:p>
            <a:pPr marL="685365" lvl="1" indent="-342683" algn="just">
              <a:lnSpc>
                <a:spcPts val="6253"/>
              </a:lnSpc>
              <a:buAutoNum type="arabicPeriod"/>
            </a:pPr>
            <a:r>
              <a:rPr lang="en-US" sz="317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Limited reach; some needy people or shelters miss out</a:t>
            </a:r>
          </a:p>
          <a:p>
            <a:pPr algn="just">
              <a:lnSpc>
                <a:spcPts val="6253"/>
              </a:lnSpc>
            </a:pPr>
            <a:endParaRPr lang="en-US" sz="3174" b="1" dirty="0">
              <a:solidFill>
                <a:srgbClr val="FFFFFF"/>
              </a:solidFill>
              <a:latin typeface="Ruda Bold"/>
              <a:ea typeface="Ruda Bold"/>
              <a:cs typeface="Ruda Bold"/>
              <a:sym typeface="Ruda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144000" y="-573386"/>
            <a:ext cx="9842856" cy="11900493"/>
            <a:chOff x="0" y="0"/>
            <a:chExt cx="2592357" cy="31342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92357" cy="3134286"/>
            </a:xfrm>
            <a:custGeom>
              <a:avLst/>
              <a:gdLst/>
              <a:ahLst/>
              <a:cxnLst/>
              <a:rect l="l" t="t" r="r" b="b"/>
              <a:pathLst>
                <a:path w="2592357" h="3134286">
                  <a:moveTo>
                    <a:pt x="0" y="0"/>
                  </a:moveTo>
                  <a:lnTo>
                    <a:pt x="2592357" y="0"/>
                  </a:lnTo>
                  <a:lnTo>
                    <a:pt x="2592357" y="3134286"/>
                  </a:lnTo>
                  <a:lnTo>
                    <a:pt x="0" y="31342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2592357" cy="3220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5808" y="704850"/>
            <a:ext cx="5672050" cy="1368072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4"/>
              </a:lnSpc>
            </a:pPr>
            <a:r>
              <a:rPr lang="en-US" sz="6888" u="sng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CURRENT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8495" y="2617902"/>
            <a:ext cx="7765215" cy="609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0917" lvl="1" indent="-335458" algn="just">
              <a:lnSpc>
                <a:spcPts val="6121"/>
              </a:lnSpc>
              <a:buAutoNum type="arabicPeriod"/>
            </a:pPr>
            <a:r>
              <a:rPr lang="en-US" sz="3107" b="1" dirty="0">
                <a:solidFill>
                  <a:srgbClr val="82BD4F"/>
                </a:solidFill>
                <a:latin typeface="Ruda Bold"/>
                <a:ea typeface="Ruda Bold"/>
                <a:cs typeface="Ruda Bold"/>
                <a:sym typeface="Ruda Bold"/>
              </a:rPr>
              <a:t>Providers post food details instantly</a:t>
            </a:r>
          </a:p>
          <a:p>
            <a:pPr marL="670917" lvl="1" indent="-335458" algn="just">
              <a:lnSpc>
                <a:spcPts val="6121"/>
              </a:lnSpc>
              <a:buAutoNum type="arabicPeriod"/>
            </a:pPr>
            <a:r>
              <a:rPr lang="en-US" sz="3107" b="1" dirty="0">
                <a:solidFill>
                  <a:srgbClr val="82BD4F"/>
                </a:solidFill>
                <a:latin typeface="Ruda Bold"/>
                <a:ea typeface="Ruda Bold"/>
                <a:cs typeface="Ruda Bold"/>
                <a:sym typeface="Ruda Bold"/>
              </a:rPr>
              <a:t>NGOs receive real-time alerts</a:t>
            </a:r>
          </a:p>
          <a:p>
            <a:pPr marL="670917" lvl="1" indent="-335458" algn="just">
              <a:lnSpc>
                <a:spcPts val="6121"/>
              </a:lnSpc>
              <a:buAutoNum type="arabicPeriod"/>
            </a:pPr>
            <a:r>
              <a:rPr lang="en-US" sz="3107" b="1" dirty="0">
                <a:solidFill>
                  <a:srgbClr val="82BD4F"/>
                </a:solidFill>
                <a:latin typeface="Ruda Bold"/>
                <a:ea typeface="Ruda Bold"/>
                <a:cs typeface="Ruda Bold"/>
                <a:sym typeface="Ruda Bold"/>
              </a:rPr>
              <a:t>Pickup and distribution confirmed in app</a:t>
            </a:r>
          </a:p>
          <a:p>
            <a:pPr marL="670917" lvl="1" indent="-335458" algn="just">
              <a:lnSpc>
                <a:spcPts val="6121"/>
              </a:lnSpc>
              <a:buAutoNum type="arabicPeriod"/>
            </a:pPr>
            <a:r>
              <a:rPr lang="en-US" sz="3107" b="1" dirty="0">
                <a:solidFill>
                  <a:srgbClr val="82BD4F"/>
                </a:solidFill>
                <a:latin typeface="Ruda Bold"/>
                <a:ea typeface="Ruda Bold"/>
                <a:cs typeface="Ruda Bold"/>
                <a:sym typeface="Ruda Bold"/>
              </a:rPr>
              <a:t>Instant coordination reduces delays in food collection</a:t>
            </a:r>
          </a:p>
          <a:p>
            <a:pPr marL="670917" lvl="1" indent="-335458" algn="just">
              <a:lnSpc>
                <a:spcPts val="6121"/>
              </a:lnSpc>
              <a:buAutoNum type="arabicPeriod"/>
            </a:pPr>
            <a:r>
              <a:rPr lang="en-US" sz="3107" b="1" dirty="0">
                <a:solidFill>
                  <a:srgbClr val="82BD4F"/>
                </a:solidFill>
                <a:latin typeface="Ruda Bold"/>
                <a:ea typeface="Ruda Bold"/>
                <a:cs typeface="Ruda Bold"/>
                <a:sym typeface="Ruda Bold"/>
              </a:rPr>
              <a:t>Data-driven reports on food saved</a:t>
            </a:r>
          </a:p>
          <a:p>
            <a:pPr algn="just">
              <a:lnSpc>
                <a:spcPts val="6121"/>
              </a:lnSpc>
            </a:pPr>
            <a:endParaRPr lang="en-US" sz="3107" b="1" dirty="0">
              <a:solidFill>
                <a:srgbClr val="82BD4F"/>
              </a:solidFill>
              <a:latin typeface="Ruda Bold"/>
              <a:ea typeface="Ruda Bold"/>
              <a:cs typeface="Ruda Bold"/>
              <a:sym typeface="Rud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47872" y="704850"/>
            <a:ext cx="5672050" cy="1368072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4"/>
              </a:lnSpc>
            </a:pPr>
            <a:r>
              <a:rPr lang="en-US" sz="6888" u="sng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PROPOSED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854" y="2479103"/>
            <a:ext cx="17252293" cy="7254583"/>
            <a:chOff x="0" y="0"/>
            <a:chExt cx="4543814" cy="1910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814" cy="1910672"/>
            </a:xfrm>
            <a:custGeom>
              <a:avLst/>
              <a:gdLst/>
              <a:ahLst/>
              <a:cxnLst/>
              <a:rect l="l" t="t" r="r" b="b"/>
              <a:pathLst>
                <a:path w="4543814" h="1910672">
                  <a:moveTo>
                    <a:pt x="7629" y="0"/>
                  </a:moveTo>
                  <a:lnTo>
                    <a:pt x="4536185" y="0"/>
                  </a:lnTo>
                  <a:cubicBezTo>
                    <a:pt x="4540398" y="0"/>
                    <a:pt x="4543814" y="3415"/>
                    <a:pt x="4543814" y="7629"/>
                  </a:cubicBezTo>
                  <a:lnTo>
                    <a:pt x="4543814" y="1903043"/>
                  </a:lnTo>
                  <a:cubicBezTo>
                    <a:pt x="4543814" y="1907256"/>
                    <a:pt x="4540398" y="1910672"/>
                    <a:pt x="4536185" y="1910672"/>
                  </a:cubicBezTo>
                  <a:lnTo>
                    <a:pt x="7629" y="1910672"/>
                  </a:lnTo>
                  <a:cubicBezTo>
                    <a:pt x="3415" y="1910672"/>
                    <a:pt x="0" y="1907256"/>
                    <a:pt x="0" y="1903043"/>
                  </a:cubicBezTo>
                  <a:lnTo>
                    <a:pt x="0" y="7629"/>
                  </a:lnTo>
                  <a:cubicBezTo>
                    <a:pt x="0" y="3415"/>
                    <a:pt x="3415" y="0"/>
                    <a:pt x="76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543814" cy="1996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85376" y="3278870"/>
            <a:ext cx="1853863" cy="519082"/>
          </a:xfrm>
          <a:custGeom>
            <a:avLst/>
            <a:gdLst/>
            <a:ahLst/>
            <a:cxnLst/>
            <a:rect l="l" t="t" r="r" b="b"/>
            <a:pathLst>
              <a:path w="1853863" h="519082">
                <a:moveTo>
                  <a:pt x="0" y="0"/>
                </a:moveTo>
                <a:lnTo>
                  <a:pt x="1853863" y="0"/>
                </a:lnTo>
                <a:lnTo>
                  <a:pt x="1853863" y="519081"/>
                </a:lnTo>
                <a:lnTo>
                  <a:pt x="0" y="51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84669" y="6456748"/>
            <a:ext cx="1937069" cy="676213"/>
          </a:xfrm>
          <a:custGeom>
            <a:avLst/>
            <a:gdLst/>
            <a:ahLst/>
            <a:cxnLst/>
            <a:rect l="l" t="t" r="r" b="b"/>
            <a:pathLst>
              <a:path w="1937069" h="676213">
                <a:moveTo>
                  <a:pt x="0" y="0"/>
                </a:moveTo>
                <a:lnTo>
                  <a:pt x="1937068" y="0"/>
                </a:lnTo>
                <a:lnTo>
                  <a:pt x="1937068" y="676213"/>
                </a:lnTo>
                <a:lnTo>
                  <a:pt x="0" y="676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3947" y="3105603"/>
            <a:ext cx="10650584" cy="578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8603" lvl="1" indent="-499302" algn="l">
              <a:lnSpc>
                <a:spcPts val="6475"/>
              </a:lnSpc>
              <a:spcBef>
                <a:spcPct val="0"/>
              </a:spcBef>
              <a:buFont typeface="Arial"/>
              <a:buChar char="•"/>
            </a:pPr>
            <a:r>
              <a:rPr lang="en-US" sz="4625" dirty="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Backend:                 + Express.js</a:t>
            </a:r>
          </a:p>
          <a:p>
            <a:pPr marL="998603" lvl="1" indent="-499302" algn="l">
              <a:lnSpc>
                <a:spcPts val="6475"/>
              </a:lnSpc>
              <a:spcBef>
                <a:spcPct val="0"/>
              </a:spcBef>
              <a:buFont typeface="Arial"/>
              <a:buChar char="•"/>
            </a:pPr>
            <a:r>
              <a:rPr lang="en-US" sz="4625" dirty="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Database: MongoDB Atlas</a:t>
            </a:r>
          </a:p>
          <a:p>
            <a:pPr marL="998603" lvl="1" indent="-499302" algn="l">
              <a:lnSpc>
                <a:spcPts val="6475"/>
              </a:lnSpc>
              <a:spcBef>
                <a:spcPct val="0"/>
              </a:spcBef>
              <a:buFont typeface="Arial"/>
              <a:buChar char="•"/>
            </a:pPr>
            <a:r>
              <a:rPr lang="en-US" sz="4625" dirty="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Real-Time Notifications: Socket.io</a:t>
            </a:r>
          </a:p>
          <a:p>
            <a:pPr marL="998603" lvl="1" indent="-499302" algn="l">
              <a:lnSpc>
                <a:spcPts val="6475"/>
              </a:lnSpc>
              <a:spcBef>
                <a:spcPct val="0"/>
              </a:spcBef>
              <a:buFont typeface="Arial"/>
              <a:buChar char="•"/>
            </a:pPr>
            <a:r>
              <a:rPr lang="en-US" sz="4625" dirty="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Authentication: JWT</a:t>
            </a:r>
          </a:p>
          <a:p>
            <a:pPr marL="998603" lvl="1" indent="-499302" algn="l">
              <a:lnSpc>
                <a:spcPts val="6475"/>
              </a:lnSpc>
              <a:spcBef>
                <a:spcPct val="0"/>
              </a:spcBef>
              <a:buFont typeface="Arial"/>
              <a:buChar char="•"/>
            </a:pPr>
            <a:r>
              <a:rPr lang="en-US" sz="4625" dirty="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Frontend (Web):                + </a:t>
            </a:r>
            <a:r>
              <a:rPr lang="en-US" sz="4625" dirty="0" err="1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TailwindCSS</a:t>
            </a:r>
            <a:endParaRPr lang="en-US" sz="4625" dirty="0">
              <a:solidFill>
                <a:srgbClr val="000000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  <a:p>
            <a:pPr marL="998603" lvl="1" indent="-499302" algn="l">
              <a:lnSpc>
                <a:spcPts val="6475"/>
              </a:lnSpc>
              <a:spcBef>
                <a:spcPct val="0"/>
              </a:spcBef>
              <a:buFont typeface="Arial"/>
              <a:buChar char="•"/>
            </a:pPr>
            <a:r>
              <a:rPr lang="en-US" sz="4625" dirty="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Mobile App:          + FCM</a:t>
            </a:r>
          </a:p>
          <a:p>
            <a:pPr algn="l">
              <a:lnSpc>
                <a:spcPts val="6475"/>
              </a:lnSpc>
              <a:spcBef>
                <a:spcPct val="0"/>
              </a:spcBef>
            </a:pPr>
            <a:endParaRPr lang="en-US" sz="4625" dirty="0">
              <a:solidFill>
                <a:srgbClr val="000000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7970300" y="3988040"/>
            <a:ext cx="457533" cy="975360"/>
          </a:xfrm>
          <a:custGeom>
            <a:avLst/>
            <a:gdLst/>
            <a:ahLst/>
            <a:cxnLst/>
            <a:rect l="l" t="t" r="r" b="b"/>
            <a:pathLst>
              <a:path w="457533" h="975360">
                <a:moveTo>
                  <a:pt x="0" y="0"/>
                </a:moveTo>
                <a:lnTo>
                  <a:pt x="457532" y="0"/>
                </a:lnTo>
                <a:lnTo>
                  <a:pt x="457532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78235" y="7405623"/>
            <a:ext cx="545912" cy="677768"/>
          </a:xfrm>
          <a:custGeom>
            <a:avLst/>
            <a:gdLst/>
            <a:ahLst/>
            <a:cxnLst/>
            <a:rect l="l" t="t" r="r" b="b"/>
            <a:pathLst>
              <a:path w="545912" h="677768">
                <a:moveTo>
                  <a:pt x="0" y="0"/>
                </a:moveTo>
                <a:lnTo>
                  <a:pt x="545911" y="0"/>
                </a:lnTo>
                <a:lnTo>
                  <a:pt x="545911" y="677768"/>
                </a:lnTo>
                <a:lnTo>
                  <a:pt x="0" y="677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184383" y="2860073"/>
            <a:ext cx="6028038" cy="602803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AC4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912402" y="4048995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76200" y="-153689"/>
            <a:ext cx="7495893" cy="2162674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7"/>
              </a:lnSpc>
            </a:pPr>
            <a:r>
              <a:rPr lang="en-US" sz="10855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TECH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6296" y="2242580"/>
            <a:ext cx="17751704" cy="863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8"/>
              </a:lnSpc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Food Providers</a:t>
            </a:r>
          </a:p>
          <a:p>
            <a:pPr marL="786248" lvl="1" indent="-393124" algn="l">
              <a:lnSpc>
                <a:spcPts val="5098"/>
              </a:lnSpc>
              <a:buFont typeface="Arial"/>
              <a:buChar char="•"/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Reduce waste by sharing surplus food</a:t>
            </a:r>
          </a:p>
          <a:p>
            <a:pPr marL="786248" lvl="1" indent="-393124" algn="l">
              <a:lnSpc>
                <a:spcPts val="5098"/>
              </a:lnSpc>
              <a:buFont typeface="Arial"/>
              <a:buChar char="•"/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Contribute to social responsibility</a:t>
            </a:r>
          </a:p>
          <a:p>
            <a:pPr algn="l">
              <a:lnSpc>
                <a:spcPts val="5098"/>
              </a:lnSpc>
            </a:pPr>
            <a:endParaRPr lang="en-US" sz="3641" b="1" dirty="0">
              <a:solidFill>
                <a:srgbClr val="FFFFFF"/>
              </a:solidFill>
              <a:latin typeface="Agrandir Narrow Bold"/>
              <a:ea typeface="Agrandir Narrow Bold"/>
              <a:cs typeface="Agrandir Narrow Bold"/>
              <a:sym typeface="Agrandir Narrow Bold"/>
            </a:endParaRPr>
          </a:p>
          <a:p>
            <a:pPr algn="l">
              <a:lnSpc>
                <a:spcPts val="5098"/>
              </a:lnSpc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NGOs &amp; Shelters</a:t>
            </a:r>
          </a:p>
          <a:p>
            <a:pPr marL="786248" lvl="1" indent="-393124" algn="l">
              <a:lnSpc>
                <a:spcPts val="5098"/>
              </a:lnSpc>
              <a:buFont typeface="Arial"/>
              <a:buChar char="•"/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Easy, reliable access to daily food needs</a:t>
            </a:r>
          </a:p>
          <a:p>
            <a:pPr algn="l">
              <a:lnSpc>
                <a:spcPts val="5098"/>
              </a:lnSpc>
              <a:spcBef>
                <a:spcPct val="0"/>
              </a:spcBef>
            </a:pPr>
            <a:endParaRPr lang="en-US" sz="3641" b="1" dirty="0">
              <a:solidFill>
                <a:srgbClr val="FFFFFF"/>
              </a:solidFill>
              <a:latin typeface="Agrandir Narrow Bold"/>
              <a:ea typeface="Agrandir Narrow Bold"/>
              <a:cs typeface="Agrandir Narrow Bold"/>
              <a:sym typeface="Agrandir Narrow Bold"/>
            </a:endParaRPr>
          </a:p>
          <a:p>
            <a:pPr algn="l">
              <a:lnSpc>
                <a:spcPts val="5098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Community</a:t>
            </a:r>
          </a:p>
          <a:p>
            <a:pPr marL="786248" lvl="1" indent="-393124" algn="l">
              <a:lnSpc>
                <a:spcPts val="5098"/>
              </a:lnSpc>
              <a:spcBef>
                <a:spcPct val="0"/>
              </a:spcBef>
              <a:buFont typeface="Arial"/>
              <a:buChar char="•"/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Reduce hunger: Surplus food reaches those in need, directly lowering food insecurity.</a:t>
            </a:r>
          </a:p>
          <a:p>
            <a:pPr marL="786248" lvl="1" indent="-393124" algn="l">
              <a:lnSpc>
                <a:spcPts val="7137"/>
              </a:lnSpc>
              <a:buFont typeface="Arial"/>
              <a:buChar char="•"/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Strengthen social ties: Encourages collaboration between providers, NGOs.</a:t>
            </a:r>
          </a:p>
          <a:p>
            <a:pPr marL="786248" lvl="1" indent="-393124" algn="l">
              <a:lnSpc>
                <a:spcPts val="5098"/>
              </a:lnSpc>
              <a:spcBef>
                <a:spcPct val="0"/>
              </a:spcBef>
              <a:buFont typeface="Arial"/>
              <a:buChar char="•"/>
            </a:pPr>
            <a:r>
              <a:rPr lang="en-US" sz="3641" b="1" dirty="0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Promote sustainability: Minimizes food waste.</a:t>
            </a:r>
          </a:p>
          <a:p>
            <a:pPr algn="l">
              <a:lnSpc>
                <a:spcPts val="5098"/>
              </a:lnSpc>
              <a:spcBef>
                <a:spcPct val="0"/>
              </a:spcBef>
            </a:pPr>
            <a:endParaRPr lang="en-US" sz="3641" b="1" dirty="0">
              <a:solidFill>
                <a:srgbClr val="FFFFFF"/>
              </a:solidFill>
              <a:latin typeface="Agrandir Narrow Bold"/>
              <a:ea typeface="Agrandir Narrow Bold"/>
              <a:cs typeface="Agrandir Narrow Bold"/>
              <a:sym typeface="Agrandir Narrow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150441" y="2404505"/>
            <a:ext cx="6108859" cy="4792496"/>
            <a:chOff x="0" y="0"/>
            <a:chExt cx="1608918" cy="12622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8918" cy="1262221"/>
            </a:xfrm>
            <a:custGeom>
              <a:avLst/>
              <a:gdLst/>
              <a:ahLst/>
              <a:cxnLst/>
              <a:rect l="l" t="t" r="r" b="b"/>
              <a:pathLst>
                <a:path w="1608918" h="1262221">
                  <a:moveTo>
                    <a:pt x="21545" y="0"/>
                  </a:moveTo>
                  <a:lnTo>
                    <a:pt x="1587373" y="0"/>
                  </a:lnTo>
                  <a:cubicBezTo>
                    <a:pt x="1599272" y="0"/>
                    <a:pt x="1608918" y="9646"/>
                    <a:pt x="1608918" y="21545"/>
                  </a:cubicBezTo>
                  <a:lnTo>
                    <a:pt x="1608918" y="1240677"/>
                  </a:lnTo>
                  <a:cubicBezTo>
                    <a:pt x="1608918" y="1252575"/>
                    <a:pt x="1599272" y="1262221"/>
                    <a:pt x="1587373" y="1262221"/>
                  </a:cubicBezTo>
                  <a:lnTo>
                    <a:pt x="21545" y="1262221"/>
                  </a:lnTo>
                  <a:cubicBezTo>
                    <a:pt x="9646" y="1262221"/>
                    <a:pt x="0" y="1252575"/>
                    <a:pt x="0" y="1240677"/>
                  </a:cubicBezTo>
                  <a:lnTo>
                    <a:pt x="0" y="21545"/>
                  </a:lnTo>
                  <a:cubicBezTo>
                    <a:pt x="0" y="9646"/>
                    <a:pt x="9646" y="0"/>
                    <a:pt x="21545" y="0"/>
                  </a:cubicBezTo>
                  <a:close/>
                </a:path>
              </a:pathLst>
            </a:custGeom>
            <a:solidFill>
              <a:srgbClr val="F8F9F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1608918" cy="1347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512651" y="3005940"/>
            <a:ext cx="5384439" cy="3589626"/>
          </a:xfrm>
          <a:custGeom>
            <a:avLst/>
            <a:gdLst/>
            <a:ahLst/>
            <a:cxnLst/>
            <a:rect l="l" t="t" r="r" b="b"/>
            <a:pathLst>
              <a:path w="5384439" h="3589626">
                <a:moveTo>
                  <a:pt x="0" y="0"/>
                </a:moveTo>
                <a:lnTo>
                  <a:pt x="5384439" y="0"/>
                </a:lnTo>
                <a:lnTo>
                  <a:pt x="5384439" y="3589626"/>
                </a:lnTo>
                <a:lnTo>
                  <a:pt x="0" y="358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2000"/>
            </a:blip>
            <a:stretch>
              <a:fillRect/>
            </a:stretch>
          </a:blipFill>
          <a:ln w="38100" cap="rnd">
            <a:solidFill>
              <a:srgbClr val="000000">
                <a:alpha val="81961"/>
              </a:srgbClr>
            </a:solidFill>
            <a:prstDash val="solid"/>
            <a:round/>
          </a:ln>
        </p:spPr>
      </p:sp>
      <p:sp>
        <p:nvSpPr>
          <p:cNvPr id="7" name="TextBox 7"/>
          <p:cNvSpPr txBox="1"/>
          <p:nvPr/>
        </p:nvSpPr>
        <p:spPr>
          <a:xfrm>
            <a:off x="1028700" y="-176675"/>
            <a:ext cx="16230600" cy="2264277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97"/>
              </a:lnSpc>
            </a:pPr>
            <a:r>
              <a:rPr lang="en-US" sz="11355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IMPACT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52128" y="270061"/>
            <a:ext cx="9583745" cy="2540512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6"/>
              </a:lnSpc>
            </a:pPr>
            <a:r>
              <a:rPr lang="en-US" sz="12854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62247" y="4221371"/>
            <a:ext cx="530657" cy="53065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35829" y="3226282"/>
            <a:ext cx="6808171" cy="245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350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Reduced wastage</a:t>
            </a:r>
            <a:r>
              <a:rPr lang="en-US" sz="3504" dirty="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: Ensures surplus food safely reaches those in need instead of being discarded..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62247" y="7621897"/>
            <a:ext cx="530657" cy="53065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35829" y="6626808"/>
            <a:ext cx="7099915" cy="245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350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Sustainable community development</a:t>
            </a:r>
            <a:r>
              <a:rPr lang="en-US" sz="3504" dirty="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: Supports long-term ethical practices and strengthens community welfare.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78669" y="4221371"/>
            <a:ext cx="530657" cy="53065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052251" y="3226282"/>
            <a:ext cx="6582929" cy="245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3504" dirty="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I</a:t>
            </a:r>
            <a:r>
              <a:rPr lang="en-US" sz="350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ncreased social impact</a:t>
            </a:r>
            <a:r>
              <a:rPr lang="en-US" sz="3504" dirty="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: Empowers providers and NGOs to make a meaningful difference in the community.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78719" y="7621897"/>
            <a:ext cx="530657" cy="53065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052351" y="6626808"/>
            <a:ext cx="6582829" cy="245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3504" b="1" dirty="0">
                <a:solidFill>
                  <a:srgbClr val="FFFFFF"/>
                </a:solidFill>
                <a:latin typeface="Ruda Bold"/>
                <a:ea typeface="Ruda Bold"/>
                <a:cs typeface="Ruda Bold"/>
                <a:sym typeface="Ruda Bold"/>
              </a:rPr>
              <a:t>Environmental impact</a:t>
            </a:r>
            <a:r>
              <a:rPr lang="en-US" sz="3504" dirty="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: Minimizes food waste, promoting sustainability and eco-friendly practices.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3198" y="2846610"/>
            <a:ext cx="15421604" cy="3717480"/>
          </a:xfrm>
          <a:prstGeom prst="rect">
            <a:avLst/>
          </a:prstGeom>
          <a:effectLst>
            <a:outerShdw blurRad="63500" dist="38100" dir="2700000" algn="tl" rotWithShape="0">
              <a:prstClr val="black"/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22"/>
              </a:lnSpc>
            </a:pPr>
            <a:r>
              <a:rPr lang="en-US" sz="18730" dirty="0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425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Ruda Bold</vt:lpstr>
      <vt:lpstr>Calibri</vt:lpstr>
      <vt:lpstr>Arial</vt:lpstr>
      <vt:lpstr>Rustic Printed</vt:lpstr>
      <vt:lpstr>Agrandir Narrow Bold</vt:lpstr>
      <vt:lpstr>Agrandir Narrow</vt:lpstr>
      <vt:lpstr>Ruda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Organic Presentation</dc:title>
  <dc:creator>Pratham Hegde</dc:creator>
  <cp:lastModifiedBy>Pratham Hegde</cp:lastModifiedBy>
  <cp:revision>2</cp:revision>
  <dcterms:created xsi:type="dcterms:W3CDTF">2006-08-16T00:00:00Z</dcterms:created>
  <dcterms:modified xsi:type="dcterms:W3CDTF">2025-09-07T07:04:41Z</dcterms:modified>
  <dc:identifier>DAGyOxKy13c</dc:identifier>
</cp:coreProperties>
</file>