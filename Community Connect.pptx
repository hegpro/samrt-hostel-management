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Open Sans Light" charset="1" panose="020B0306030504020204"/>
      <p:regular r:id="rId13"/>
    </p:embeddedFont>
    <p:embeddedFont>
      <p:font typeface="Poppins Semi-Bold" charset="1" panose="00000700000000000000"/>
      <p:regular r:id="rId14"/>
    </p:embeddedFont>
    <p:embeddedFont>
      <p:font typeface="Calibri (MS)" charset="1" panose="020F0502020204030204"/>
      <p:regular r:id="rId15"/>
    </p:embeddedFont>
    <p:embeddedFont>
      <p:font typeface="Poppins Bold" charset="1" panose="00000800000000000000"/>
      <p:regular r:id="rId16"/>
    </p:embeddedFont>
    <p:embeddedFont>
      <p:font typeface="DM Sans" charset="1" panose="00000000000000000000"/>
      <p:regular r:id="rId17"/>
    </p:embeddedFont>
    <p:embeddedFont>
      <p:font typeface="DM Serif Display" charset="1" panose="00000000000000000000"/>
      <p:regular r:id="rId18"/>
    </p:embeddedFont>
    <p:embeddedFont>
      <p:font typeface="Open Sauce Bold" charset="1" panose="00000800000000000000"/>
      <p:regular r:id="rId19"/>
    </p:embeddedFont>
    <p:embeddedFont>
      <p:font typeface="Open Sauce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01622" y="-767350"/>
            <a:ext cx="22013892" cy="12354774"/>
          </a:xfrm>
          <a:custGeom>
            <a:avLst/>
            <a:gdLst/>
            <a:ahLst/>
            <a:cxnLst/>
            <a:rect r="r" b="b" t="t" l="l"/>
            <a:pathLst>
              <a:path h="12354774" w="22013892">
                <a:moveTo>
                  <a:pt x="0" y="0"/>
                </a:moveTo>
                <a:lnTo>
                  <a:pt x="22013891" y="0"/>
                </a:lnTo>
                <a:lnTo>
                  <a:pt x="22013891" y="12354775"/>
                </a:lnTo>
                <a:lnTo>
                  <a:pt x="0" y="12354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467" r="0" b="-946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AD7D4">
                <a:alpha val="2862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986472" y="5549527"/>
            <a:ext cx="8725091" cy="2558827"/>
            <a:chOff x="0" y="0"/>
            <a:chExt cx="2297966" cy="6739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97966" cy="673930"/>
            </a:xfrm>
            <a:custGeom>
              <a:avLst/>
              <a:gdLst/>
              <a:ahLst/>
              <a:cxnLst/>
              <a:rect r="r" b="b" t="t" l="l"/>
              <a:pathLst>
                <a:path h="673930" w="2297966">
                  <a:moveTo>
                    <a:pt x="0" y="0"/>
                  </a:moveTo>
                  <a:lnTo>
                    <a:pt x="2297966" y="0"/>
                  </a:lnTo>
                  <a:lnTo>
                    <a:pt x="2297966" y="673930"/>
                  </a:lnTo>
                  <a:lnTo>
                    <a:pt x="0" y="673930"/>
                  </a:lnTo>
                  <a:close/>
                </a:path>
              </a:pathLst>
            </a:custGeom>
            <a:solidFill>
              <a:srgbClr val="AAD7D4"/>
            </a:solidFill>
            <a:ln w="28575" cap="sq">
              <a:solidFill>
                <a:srgbClr val="1C212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2297966" cy="7406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4619"/>
                </a:lnSpc>
              </a:pPr>
              <a:r>
                <a:rPr lang="en-US" sz="3299">
                  <a:solidFill>
                    <a:srgbClr val="000000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Aditya Honnakasturi               2SD23IS006</a:t>
              </a:r>
            </a:p>
            <a:p>
              <a:pPr algn="l">
                <a:lnSpc>
                  <a:spcPts val="4619"/>
                </a:lnSpc>
              </a:pPr>
              <a:r>
                <a:rPr lang="en-US" sz="3299">
                  <a:solidFill>
                    <a:srgbClr val="000000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Pratham Manjunath Hegde   2SD23IS034</a:t>
              </a:r>
            </a:p>
            <a:p>
              <a:pPr algn="l">
                <a:lnSpc>
                  <a:spcPts val="4619"/>
                </a:lnSpc>
              </a:pPr>
              <a:r>
                <a:rPr lang="en-US" sz="3299">
                  <a:solidFill>
                    <a:srgbClr val="000000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Kiran Jantgal                            2SD24IS402</a:t>
              </a:r>
            </a:p>
            <a:p>
              <a:pPr algn="l">
                <a:lnSpc>
                  <a:spcPts val="4619"/>
                </a:lnSpc>
              </a:pPr>
              <a:r>
                <a:rPr lang="en-US" sz="3299">
                  <a:solidFill>
                    <a:srgbClr val="000000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Pradyumna Naik                     2SD23IS032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819632" y="653349"/>
            <a:ext cx="14169981" cy="1874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6"/>
              </a:lnSpc>
            </a:pPr>
            <a:r>
              <a:rPr lang="en-US" b="true" sz="5996" spc="-323">
                <a:solidFill>
                  <a:srgbClr val="1C21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COMMUNITY CONNECT – HOUSEHOLD HELPER PLATFORM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30965" y="3115890"/>
            <a:ext cx="15226069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60"/>
              </a:lnSpc>
              <a:spcBef>
                <a:spcPct val="0"/>
              </a:spcBef>
            </a:pPr>
            <a:r>
              <a:rPr lang="en-US" sz="5300">
                <a:solidFill>
                  <a:srgbClr val="1C2120"/>
                </a:solidFill>
                <a:latin typeface="Calibri (MS)"/>
                <a:ea typeface="Calibri (MS)"/>
                <a:cs typeface="Calibri (MS)"/>
                <a:sym typeface="Calibri (MS)"/>
              </a:rPr>
              <a:t>“Connecting h</a:t>
            </a:r>
            <a:r>
              <a:rPr lang="en-US" sz="5300">
                <a:solidFill>
                  <a:srgbClr val="1C2120"/>
                </a:solidFill>
                <a:latin typeface="Calibri (MS)"/>
                <a:ea typeface="Calibri (MS)"/>
                <a:cs typeface="Calibri (MS)"/>
                <a:sym typeface="Calibri (MS)"/>
              </a:rPr>
              <a:t>ouseholds with trusted service providers”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6127987" cy="10424560"/>
          </a:xfrm>
          <a:custGeom>
            <a:avLst/>
            <a:gdLst/>
            <a:ahLst/>
            <a:cxnLst/>
            <a:rect r="r" b="b" t="t" l="l"/>
            <a:pathLst>
              <a:path h="10424560" w="6127987">
                <a:moveTo>
                  <a:pt x="0" y="0"/>
                </a:moveTo>
                <a:lnTo>
                  <a:pt x="6127987" y="0"/>
                </a:lnTo>
                <a:lnTo>
                  <a:pt x="6127987" y="10424560"/>
                </a:lnTo>
                <a:lnTo>
                  <a:pt x="0" y="104245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4967" t="-1698" r="-15877" b="-437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77024"/>
            <a:ext cx="6642337" cy="10601584"/>
            <a:chOff x="0" y="0"/>
            <a:chExt cx="1749422" cy="27921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49422" cy="2792187"/>
            </a:xfrm>
            <a:custGeom>
              <a:avLst/>
              <a:gdLst/>
              <a:ahLst/>
              <a:cxnLst/>
              <a:rect r="r" b="b" t="t" l="l"/>
              <a:pathLst>
                <a:path h="2792187" w="1749422">
                  <a:moveTo>
                    <a:pt x="0" y="0"/>
                  </a:moveTo>
                  <a:lnTo>
                    <a:pt x="1749422" y="0"/>
                  </a:lnTo>
                  <a:lnTo>
                    <a:pt x="1749422" y="2792187"/>
                  </a:lnTo>
                  <a:lnTo>
                    <a:pt x="0" y="2792187"/>
                  </a:lnTo>
                  <a:close/>
                </a:path>
              </a:pathLst>
            </a:custGeom>
            <a:solidFill>
              <a:srgbClr val="AAD7D4">
                <a:alpha val="5568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749422" cy="2830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224353" y="1123950"/>
            <a:ext cx="11063647" cy="1143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935"/>
              </a:lnSpc>
            </a:pPr>
            <a:r>
              <a:rPr lang="en-US" b="true" sz="8180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The Problem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67838" y="2357980"/>
            <a:ext cx="10838767" cy="7329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7511" indent="-368755" lvl="1">
              <a:lnSpc>
                <a:spcPts val="5807"/>
              </a:lnSpc>
              <a:buFont typeface="Arial"/>
              <a:buChar char="•"/>
            </a:pPr>
            <a:r>
              <a:rPr lang="en-US" sz="3415" spc="20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Hard</a:t>
            </a:r>
            <a:r>
              <a:rPr lang="en-US" sz="3415" spc="20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to find verif</a:t>
            </a:r>
            <a:r>
              <a:rPr lang="en-US" sz="3415" spc="204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3415" spc="20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ed plumbers, electricians, carpenters, cleaners, mechanics</a:t>
            </a:r>
          </a:p>
          <a:p>
            <a:pPr algn="l" marL="737511" indent="-368755" lvl="1">
              <a:lnSpc>
                <a:spcPts val="5807"/>
              </a:lnSpc>
              <a:buFont typeface="Arial"/>
              <a:buChar char="•"/>
            </a:pPr>
            <a:r>
              <a:rPr lang="en-US" sz="3415" spc="20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</a:t>
            </a:r>
            <a:r>
              <a:rPr lang="en-US" sz="3415" spc="204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sers face delays, p</a:t>
            </a:r>
            <a:r>
              <a:rPr lang="en-US" sz="3415" spc="20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oor quality</a:t>
            </a:r>
            <a:r>
              <a:rPr lang="en-US" sz="3415" spc="204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,</a:t>
            </a:r>
            <a:r>
              <a:rPr lang="en-US" sz="3415" spc="20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and overcha</a:t>
            </a:r>
            <a:r>
              <a:rPr lang="en-US" sz="3415" spc="204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rging</a:t>
            </a:r>
          </a:p>
          <a:p>
            <a:pPr algn="l" marL="737511" indent="-368755" lvl="1">
              <a:lnSpc>
                <a:spcPts val="5807"/>
              </a:lnSpc>
              <a:buFont typeface="Arial"/>
              <a:buChar char="•"/>
            </a:pPr>
            <a:r>
              <a:rPr lang="en-US" sz="3415" spc="204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</a:t>
            </a:r>
            <a:r>
              <a:rPr lang="en-US" sz="3415" spc="20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</a:t>
            </a:r>
            <a:r>
              <a:rPr lang="en-US" sz="3415" spc="204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vid</a:t>
            </a:r>
            <a:r>
              <a:rPr lang="en-US" sz="3415" spc="20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ers miss customer</a:t>
            </a:r>
            <a:r>
              <a:rPr lang="en-US" sz="3415" spc="204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 &amp;</a:t>
            </a:r>
            <a:r>
              <a:rPr lang="en-US" sz="3415" spc="20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415" spc="204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struggl</a:t>
            </a:r>
            <a:r>
              <a:rPr lang="en-US" sz="3415" spc="20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 with manual schedul</a:t>
            </a:r>
            <a:r>
              <a:rPr lang="en-US" sz="3415" spc="204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ing</a:t>
            </a:r>
          </a:p>
          <a:p>
            <a:pPr algn="l" marL="737511" indent="-368755" lvl="1">
              <a:lnSpc>
                <a:spcPts val="5807"/>
              </a:lnSpc>
              <a:buFont typeface="Arial"/>
              <a:buChar char="•"/>
            </a:pPr>
            <a:r>
              <a:rPr lang="en-US" sz="3415" spc="204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No</a:t>
            </a:r>
            <a:r>
              <a:rPr lang="en-US" sz="3415" spc="20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s</a:t>
            </a:r>
            <a:r>
              <a:rPr lang="en-US" sz="3415" spc="204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3415" spc="20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ngle </a:t>
            </a:r>
            <a:r>
              <a:rPr lang="en-US" sz="3415" spc="204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trus</a:t>
            </a:r>
            <a:r>
              <a:rPr lang="en-US" sz="3415" spc="20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ted p</a:t>
            </a:r>
            <a:r>
              <a:rPr lang="en-US" sz="3415" spc="204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latfo</a:t>
            </a:r>
            <a:r>
              <a:rPr lang="en-US" sz="3415" spc="20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rm for booking s</a:t>
            </a:r>
            <a:r>
              <a:rPr lang="en-US" sz="3415" spc="204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ervices</a:t>
            </a:r>
          </a:p>
          <a:p>
            <a:pPr algn="l">
              <a:lnSpc>
                <a:spcPts val="5807"/>
              </a:lnSpc>
            </a:pPr>
          </a:p>
          <a:p>
            <a:pPr algn="l" marL="0" indent="0" lvl="0">
              <a:lnSpc>
                <a:spcPts val="5807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558798" y="2697161"/>
            <a:ext cx="4892678" cy="489267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31222" t="0" r="-6995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796261" y="1028700"/>
            <a:ext cx="1463216" cy="146321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567318" y="2697161"/>
            <a:ext cx="1463216" cy="146321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67318" y="5927221"/>
            <a:ext cx="1463216" cy="146321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028119" y="1639405"/>
            <a:ext cx="1463216" cy="1463216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0388852" y="2066895"/>
            <a:ext cx="741751" cy="608236"/>
          </a:xfrm>
          <a:custGeom>
            <a:avLst/>
            <a:gdLst/>
            <a:ahLst/>
            <a:cxnLst/>
            <a:rect r="r" b="b" t="t" l="l"/>
            <a:pathLst>
              <a:path h="608236" w="741751">
                <a:moveTo>
                  <a:pt x="0" y="0"/>
                </a:moveTo>
                <a:lnTo>
                  <a:pt x="741751" y="0"/>
                </a:lnTo>
                <a:lnTo>
                  <a:pt x="741751" y="608236"/>
                </a:lnTo>
                <a:lnTo>
                  <a:pt x="0" y="6082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175910" y="1332986"/>
            <a:ext cx="703917" cy="854645"/>
          </a:xfrm>
          <a:custGeom>
            <a:avLst/>
            <a:gdLst/>
            <a:ahLst/>
            <a:cxnLst/>
            <a:rect r="r" b="b" t="t" l="l"/>
            <a:pathLst>
              <a:path h="854645" w="703917">
                <a:moveTo>
                  <a:pt x="0" y="0"/>
                </a:moveTo>
                <a:lnTo>
                  <a:pt x="703917" y="0"/>
                </a:lnTo>
                <a:lnTo>
                  <a:pt x="703917" y="854645"/>
                </a:lnTo>
                <a:lnTo>
                  <a:pt x="0" y="8546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804764" y="3102622"/>
            <a:ext cx="988326" cy="652295"/>
          </a:xfrm>
          <a:custGeom>
            <a:avLst/>
            <a:gdLst/>
            <a:ahLst/>
            <a:cxnLst/>
            <a:rect r="r" b="b" t="t" l="l"/>
            <a:pathLst>
              <a:path h="652295" w="988326">
                <a:moveTo>
                  <a:pt x="0" y="0"/>
                </a:moveTo>
                <a:lnTo>
                  <a:pt x="988326" y="0"/>
                </a:lnTo>
                <a:lnTo>
                  <a:pt x="988326" y="652295"/>
                </a:lnTo>
                <a:lnTo>
                  <a:pt x="0" y="6522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875201" y="6240496"/>
            <a:ext cx="847451" cy="836665"/>
          </a:xfrm>
          <a:custGeom>
            <a:avLst/>
            <a:gdLst/>
            <a:ahLst/>
            <a:cxnLst/>
            <a:rect r="r" b="b" t="t" l="l"/>
            <a:pathLst>
              <a:path h="836665" w="847451">
                <a:moveTo>
                  <a:pt x="0" y="0"/>
                </a:moveTo>
                <a:lnTo>
                  <a:pt x="847451" y="0"/>
                </a:lnTo>
                <a:lnTo>
                  <a:pt x="847451" y="836665"/>
                </a:lnTo>
                <a:lnTo>
                  <a:pt x="0" y="83666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09976" y="1765861"/>
            <a:ext cx="9834522" cy="1181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74"/>
              </a:lnSpc>
            </a:pPr>
            <a:r>
              <a:rPr lang="en-US" sz="7608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Proposed Solution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44254" y="4136405"/>
            <a:ext cx="10669633" cy="4525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1882" indent="-375941" lvl="1">
              <a:lnSpc>
                <a:spcPts val="6059"/>
              </a:lnSpc>
              <a:buFont typeface="Arial"/>
              <a:buChar char="•"/>
            </a:pPr>
            <a:r>
              <a:rPr lang="en-US" sz="3482" spc="20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Search</a:t>
            </a:r>
            <a:r>
              <a:rPr lang="en-US" sz="3482" spc="20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&amp; book nearby providers instantly</a:t>
            </a:r>
          </a:p>
          <a:p>
            <a:pPr algn="just" marL="751882" indent="-375941" lvl="1">
              <a:lnSpc>
                <a:spcPts val="6059"/>
              </a:lnSpc>
              <a:buFont typeface="Arial"/>
              <a:buChar char="•"/>
            </a:pPr>
            <a:r>
              <a:rPr lang="en-US" sz="3482" spc="20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View ratings, reviews &amp; availability</a:t>
            </a:r>
          </a:p>
          <a:p>
            <a:pPr algn="just" marL="751882" indent="-375941" lvl="1">
              <a:lnSpc>
                <a:spcPts val="6059"/>
              </a:lnSpc>
              <a:buFont typeface="Arial"/>
              <a:buChar char="•"/>
            </a:pPr>
            <a:r>
              <a:rPr lang="en-US" sz="3482" spc="20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Digital history of bookings &amp; payments</a:t>
            </a:r>
          </a:p>
          <a:p>
            <a:pPr algn="just" marL="751882" indent="-375941" lvl="1">
              <a:lnSpc>
                <a:spcPts val="6059"/>
              </a:lnSpc>
              <a:buFont typeface="Arial"/>
              <a:buChar char="•"/>
            </a:pPr>
            <a:r>
              <a:rPr lang="en-US" sz="3482" spc="20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</a:t>
            </a:r>
            <a:r>
              <a:rPr lang="en-US" sz="3482" spc="20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al-time notifications for updates</a:t>
            </a:r>
          </a:p>
          <a:p>
            <a:pPr algn="just">
              <a:lnSpc>
                <a:spcPts val="6059"/>
              </a:lnSpc>
            </a:pPr>
          </a:p>
          <a:p>
            <a:pPr algn="just" marL="0" indent="0" lvl="0">
              <a:lnSpc>
                <a:spcPts val="605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9788500" y="3287826"/>
            <a:ext cx="7160957" cy="5917570"/>
            <a:chOff x="0" y="0"/>
            <a:chExt cx="1886013" cy="15585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86013" cy="1558537"/>
            </a:xfrm>
            <a:custGeom>
              <a:avLst/>
              <a:gdLst/>
              <a:ahLst/>
              <a:cxnLst/>
              <a:rect r="r" b="b" t="t" l="l"/>
              <a:pathLst>
                <a:path h="1558537" w="1886013">
                  <a:moveTo>
                    <a:pt x="108113" y="0"/>
                  </a:moveTo>
                  <a:lnTo>
                    <a:pt x="1777900" y="0"/>
                  </a:lnTo>
                  <a:cubicBezTo>
                    <a:pt x="1837610" y="0"/>
                    <a:pt x="1886013" y="48404"/>
                    <a:pt x="1886013" y="108113"/>
                  </a:cubicBezTo>
                  <a:lnTo>
                    <a:pt x="1886013" y="1450424"/>
                  </a:lnTo>
                  <a:cubicBezTo>
                    <a:pt x="1886013" y="1479097"/>
                    <a:pt x="1874623" y="1506596"/>
                    <a:pt x="1854348" y="1526872"/>
                  </a:cubicBezTo>
                  <a:cubicBezTo>
                    <a:pt x="1834073" y="1547147"/>
                    <a:pt x="1806574" y="1558537"/>
                    <a:pt x="1777900" y="1558537"/>
                  </a:cubicBezTo>
                  <a:lnTo>
                    <a:pt x="108113" y="1558537"/>
                  </a:lnTo>
                  <a:cubicBezTo>
                    <a:pt x="79440" y="1558537"/>
                    <a:pt x="51941" y="1547147"/>
                    <a:pt x="31666" y="1526872"/>
                  </a:cubicBezTo>
                  <a:cubicBezTo>
                    <a:pt x="11390" y="1506596"/>
                    <a:pt x="0" y="1479097"/>
                    <a:pt x="0" y="1450424"/>
                  </a:cubicBezTo>
                  <a:lnTo>
                    <a:pt x="0" y="108113"/>
                  </a:lnTo>
                  <a:cubicBezTo>
                    <a:pt x="0" y="79440"/>
                    <a:pt x="11390" y="51941"/>
                    <a:pt x="31666" y="31666"/>
                  </a:cubicBezTo>
                  <a:cubicBezTo>
                    <a:pt x="51941" y="11390"/>
                    <a:pt x="79440" y="0"/>
                    <a:pt x="108113" y="0"/>
                  </a:cubicBez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886013" cy="1596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166399" y="1233825"/>
            <a:ext cx="17608297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Existing vs Proposed Technology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3234923"/>
            <a:ext cx="7644371" cy="6023377"/>
            <a:chOff x="0" y="0"/>
            <a:chExt cx="2013332" cy="158640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13332" cy="1586404"/>
            </a:xfrm>
            <a:custGeom>
              <a:avLst/>
              <a:gdLst/>
              <a:ahLst/>
              <a:cxnLst/>
              <a:rect r="r" b="b" t="t" l="l"/>
              <a:pathLst>
                <a:path h="1586404" w="2013332">
                  <a:moveTo>
                    <a:pt x="101276" y="0"/>
                  </a:moveTo>
                  <a:lnTo>
                    <a:pt x="1912056" y="0"/>
                  </a:lnTo>
                  <a:cubicBezTo>
                    <a:pt x="1967990" y="0"/>
                    <a:pt x="2013332" y="45343"/>
                    <a:pt x="2013332" y="101276"/>
                  </a:cubicBezTo>
                  <a:lnTo>
                    <a:pt x="2013332" y="1485128"/>
                  </a:lnTo>
                  <a:cubicBezTo>
                    <a:pt x="2013332" y="1511988"/>
                    <a:pt x="2002662" y="1537748"/>
                    <a:pt x="1983669" y="1556741"/>
                  </a:cubicBezTo>
                  <a:cubicBezTo>
                    <a:pt x="1964676" y="1575734"/>
                    <a:pt x="1938916" y="1586404"/>
                    <a:pt x="1912056" y="1586404"/>
                  </a:cubicBezTo>
                  <a:lnTo>
                    <a:pt x="101276" y="1586404"/>
                  </a:lnTo>
                  <a:cubicBezTo>
                    <a:pt x="74416" y="1586404"/>
                    <a:pt x="48656" y="1575734"/>
                    <a:pt x="29663" y="1556741"/>
                  </a:cubicBezTo>
                  <a:cubicBezTo>
                    <a:pt x="10670" y="1537748"/>
                    <a:pt x="0" y="1511988"/>
                    <a:pt x="0" y="1485128"/>
                  </a:cubicBezTo>
                  <a:lnTo>
                    <a:pt x="0" y="101276"/>
                  </a:lnTo>
                  <a:cubicBezTo>
                    <a:pt x="0" y="74416"/>
                    <a:pt x="10670" y="48656"/>
                    <a:pt x="29663" y="29663"/>
                  </a:cubicBezTo>
                  <a:cubicBezTo>
                    <a:pt x="48656" y="10670"/>
                    <a:pt x="74416" y="0"/>
                    <a:pt x="101276" y="0"/>
                  </a:cubicBez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13332" cy="16245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434082" y="3584913"/>
            <a:ext cx="4833608" cy="707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19"/>
              </a:lnSpc>
              <a:spcBef>
                <a:spcPct val="0"/>
              </a:spcBef>
            </a:pPr>
            <a:r>
              <a:rPr lang="en-US" b="true" sz="36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Existing Technology: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4867" y="4804748"/>
            <a:ext cx="7888204" cy="4162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4" indent="-323847" lvl="1">
              <a:lnSpc>
                <a:spcPts val="47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Search through word-of-mouth, ads, or local shops</a:t>
            </a:r>
          </a:p>
          <a:p>
            <a:pPr algn="l" marL="647694" indent="-323847" lvl="1">
              <a:lnSpc>
                <a:spcPts val="47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Manual scheduling with </a:t>
            </a:r>
            <a:r>
              <a:rPr lang="en-US" sz="2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Excel sheets &amp; registers</a:t>
            </a:r>
          </a:p>
          <a:p>
            <a:pPr algn="l" marL="647694" indent="-323847" lvl="1">
              <a:lnSpc>
                <a:spcPts val="47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No ratings, rev</a:t>
            </a:r>
            <a:r>
              <a:rPr lang="en-US" sz="2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iews, or proper service tracking</a:t>
            </a:r>
          </a:p>
          <a:p>
            <a:pPr algn="l">
              <a:lnSpc>
                <a:spcPts val="479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268361" y="3584913"/>
            <a:ext cx="6201234" cy="707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19"/>
              </a:lnSpc>
              <a:spcBef>
                <a:spcPct val="0"/>
              </a:spcBef>
            </a:pPr>
            <a:r>
              <a:rPr lang="en-US" b="true" sz="36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Proposed Techn</a:t>
            </a:r>
            <a:r>
              <a:rPr lang="en-US" b="true" sz="36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ology: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44470" y="4853644"/>
            <a:ext cx="7404987" cy="411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5001" indent="-322500" lvl="1">
              <a:lnSpc>
                <a:spcPts val="4779"/>
              </a:lnSpc>
              <a:buFont typeface="Arial"/>
              <a:buChar char="•"/>
            </a:pPr>
            <a:r>
              <a:rPr lang="en-US" sz="298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Real-time search &amp; instant booking of verified provi</a:t>
            </a:r>
            <a:r>
              <a:rPr lang="en-US" sz="298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ders</a:t>
            </a:r>
          </a:p>
          <a:p>
            <a:pPr algn="l" marL="645001" indent="-322500" lvl="1">
              <a:lnSpc>
                <a:spcPts val="4779"/>
              </a:lnSpc>
              <a:buFont typeface="Arial"/>
              <a:buChar char="•"/>
            </a:pPr>
            <a:r>
              <a:rPr lang="en-US" sz="298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Digital</a:t>
            </a:r>
            <a:r>
              <a:rPr lang="en-US" sz="2987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tracking of bookings, payments &amp; service history</a:t>
            </a:r>
          </a:p>
          <a:p>
            <a:pPr algn="l" marL="645001" indent="-322500" lvl="1">
              <a:lnSpc>
                <a:spcPts val="4779"/>
              </a:lnSpc>
              <a:buFont typeface="Arial"/>
              <a:buChar char="•"/>
            </a:pPr>
            <a:r>
              <a:rPr lang="en-US" sz="2987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</a:t>
            </a:r>
            <a:r>
              <a:rPr lang="en-US" sz="2987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ansparent ra</a:t>
            </a:r>
            <a:r>
              <a:rPr lang="en-US" sz="2987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ti</a:t>
            </a:r>
            <a:r>
              <a:rPr lang="en-US" sz="2987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987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gs</a:t>
            </a:r>
            <a:r>
              <a:rPr lang="en-US" sz="2987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987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&amp;</a:t>
            </a:r>
            <a:r>
              <a:rPr lang="en-US" sz="2987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re</a:t>
            </a:r>
            <a:r>
              <a:rPr lang="en-US" sz="2987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</a:t>
            </a:r>
            <a:r>
              <a:rPr lang="en-US" sz="2987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iews for better trust</a:t>
            </a:r>
          </a:p>
          <a:p>
            <a:pPr algn="l">
              <a:lnSpc>
                <a:spcPts val="429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3744888"/>
            <a:ext cx="8498516" cy="5513412"/>
          </a:xfrm>
          <a:custGeom>
            <a:avLst/>
            <a:gdLst/>
            <a:ahLst/>
            <a:cxnLst/>
            <a:rect r="r" b="b" t="t" l="l"/>
            <a:pathLst>
              <a:path h="5513412" w="8498516">
                <a:moveTo>
                  <a:pt x="0" y="0"/>
                </a:moveTo>
                <a:lnTo>
                  <a:pt x="8498516" y="0"/>
                </a:lnTo>
                <a:lnTo>
                  <a:pt x="8498516" y="5513412"/>
                </a:lnTo>
                <a:lnTo>
                  <a:pt x="0" y="55134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46508" y="4211518"/>
            <a:ext cx="7093500" cy="4009917"/>
          </a:xfrm>
          <a:custGeom>
            <a:avLst/>
            <a:gdLst/>
            <a:ahLst/>
            <a:cxnLst/>
            <a:rect r="r" b="b" t="t" l="l"/>
            <a:pathLst>
              <a:path h="4009917" w="7093500">
                <a:moveTo>
                  <a:pt x="0" y="0"/>
                </a:moveTo>
                <a:lnTo>
                  <a:pt x="7093500" y="0"/>
                </a:lnTo>
                <a:lnTo>
                  <a:pt x="7093500" y="4009917"/>
                </a:lnTo>
                <a:lnTo>
                  <a:pt x="0" y="40099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844" t="-15543" r="-12049" b="-29842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14402" y="3255040"/>
            <a:ext cx="8229598" cy="582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64"/>
              </a:lnSpc>
            </a:pPr>
          </a:p>
          <a:p>
            <a:pPr algn="l" marL="629979" indent="-314989" lvl="1">
              <a:lnSpc>
                <a:spcPts val="5164"/>
              </a:lnSpc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Backend: N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ode.js + Express.js with MongoDB Atlas for data storage.</a:t>
            </a:r>
          </a:p>
          <a:p>
            <a:pPr algn="l" marL="629979" indent="-314989" lvl="1">
              <a:lnSpc>
                <a:spcPts val="5164"/>
              </a:lnSpc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Frontend: React.js with TailwindCSS for the visual room layout.</a:t>
            </a:r>
          </a:p>
          <a:p>
            <a:pPr algn="l" marL="651568" indent="-325784" lvl="1">
              <a:lnSpc>
                <a:spcPts val="5341"/>
              </a:lnSpc>
              <a:buFont typeface="Arial"/>
              <a:buChar char="•"/>
            </a:pPr>
            <a:r>
              <a:rPr lang="en-US" sz="3017" spc="181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Mobile App: Flutter for cross-platform access by the warden.</a:t>
            </a:r>
          </a:p>
          <a:p>
            <a:pPr algn="l">
              <a:lnSpc>
                <a:spcPts val="5164"/>
              </a:lnSpc>
            </a:pPr>
          </a:p>
          <a:p>
            <a:pPr algn="l" marL="0" indent="0" lvl="0">
              <a:lnSpc>
                <a:spcPts val="5164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360497" y="1599651"/>
            <a:ext cx="15579511" cy="1241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58"/>
              </a:lnSpc>
            </a:pPr>
            <a:r>
              <a:rPr lang="en-US" b="true" sz="8926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Tech Stack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642" t="0" r="-464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98822" y="2932889"/>
            <a:ext cx="6827270" cy="5729838"/>
            <a:chOff x="0" y="0"/>
            <a:chExt cx="2064379" cy="17325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64379" cy="1732546"/>
            </a:xfrm>
            <a:custGeom>
              <a:avLst/>
              <a:gdLst/>
              <a:ahLst/>
              <a:cxnLst/>
              <a:rect r="r" b="b" t="t" l="l"/>
              <a:pathLst>
                <a:path h="1732546" w="2064379">
                  <a:moveTo>
                    <a:pt x="43091" y="0"/>
                  </a:moveTo>
                  <a:lnTo>
                    <a:pt x="2021288" y="0"/>
                  </a:lnTo>
                  <a:cubicBezTo>
                    <a:pt x="2032717" y="0"/>
                    <a:pt x="2043677" y="4540"/>
                    <a:pt x="2051758" y="12621"/>
                  </a:cubicBezTo>
                  <a:cubicBezTo>
                    <a:pt x="2059839" y="20702"/>
                    <a:pt x="2064379" y="31662"/>
                    <a:pt x="2064379" y="43091"/>
                  </a:cubicBezTo>
                  <a:lnTo>
                    <a:pt x="2064379" y="1689455"/>
                  </a:lnTo>
                  <a:cubicBezTo>
                    <a:pt x="2064379" y="1700883"/>
                    <a:pt x="2059839" y="1711844"/>
                    <a:pt x="2051758" y="1719925"/>
                  </a:cubicBezTo>
                  <a:cubicBezTo>
                    <a:pt x="2043677" y="1728006"/>
                    <a:pt x="2032717" y="1732546"/>
                    <a:pt x="2021288" y="1732546"/>
                  </a:cubicBezTo>
                  <a:lnTo>
                    <a:pt x="43091" y="1732546"/>
                  </a:lnTo>
                  <a:cubicBezTo>
                    <a:pt x="31662" y="1732546"/>
                    <a:pt x="20702" y="1728006"/>
                    <a:pt x="12621" y="1719925"/>
                  </a:cubicBezTo>
                  <a:cubicBezTo>
                    <a:pt x="4540" y="1711844"/>
                    <a:pt x="0" y="1700883"/>
                    <a:pt x="0" y="1689455"/>
                  </a:cubicBezTo>
                  <a:lnTo>
                    <a:pt x="0" y="43091"/>
                  </a:lnTo>
                  <a:cubicBezTo>
                    <a:pt x="0" y="31662"/>
                    <a:pt x="4540" y="20702"/>
                    <a:pt x="12621" y="12621"/>
                  </a:cubicBezTo>
                  <a:cubicBezTo>
                    <a:pt x="20702" y="4540"/>
                    <a:pt x="31662" y="0"/>
                    <a:pt x="43091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64379" cy="1770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044381" y="2932889"/>
            <a:ext cx="6589175" cy="5819980"/>
            <a:chOff x="0" y="0"/>
            <a:chExt cx="1992386" cy="17598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92386" cy="1759802"/>
            </a:xfrm>
            <a:custGeom>
              <a:avLst/>
              <a:gdLst/>
              <a:ahLst/>
              <a:cxnLst/>
              <a:rect r="r" b="b" t="t" l="l"/>
              <a:pathLst>
                <a:path h="1759802" w="1992386">
                  <a:moveTo>
                    <a:pt x="57572" y="0"/>
                  </a:moveTo>
                  <a:lnTo>
                    <a:pt x="1934813" y="0"/>
                  </a:lnTo>
                  <a:cubicBezTo>
                    <a:pt x="1966610" y="0"/>
                    <a:pt x="1992386" y="25776"/>
                    <a:pt x="1992386" y="57572"/>
                  </a:cubicBezTo>
                  <a:lnTo>
                    <a:pt x="1992386" y="1702230"/>
                  </a:lnTo>
                  <a:cubicBezTo>
                    <a:pt x="1992386" y="1734026"/>
                    <a:pt x="1966610" y="1759802"/>
                    <a:pt x="1934813" y="1759802"/>
                  </a:cubicBezTo>
                  <a:lnTo>
                    <a:pt x="57572" y="1759802"/>
                  </a:lnTo>
                  <a:cubicBezTo>
                    <a:pt x="25776" y="1759802"/>
                    <a:pt x="0" y="1734026"/>
                    <a:pt x="0" y="1702230"/>
                  </a:cubicBezTo>
                  <a:lnTo>
                    <a:pt x="0" y="57572"/>
                  </a:lnTo>
                  <a:cubicBezTo>
                    <a:pt x="0" y="25776"/>
                    <a:pt x="25776" y="0"/>
                    <a:pt x="57572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92386" cy="17979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917385" y="3403846"/>
            <a:ext cx="5990144" cy="3231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1615" indent="-355808" lvl="1">
              <a:lnSpc>
                <a:spcPts val="6559"/>
              </a:lnSpc>
              <a:buFont typeface="Arial"/>
              <a:buChar char="•"/>
            </a:pPr>
            <a:r>
              <a:rPr lang="en-US" sz="3296" spc="52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Quick, reliable access to trusted helpers</a:t>
            </a:r>
          </a:p>
          <a:p>
            <a:pPr algn="l" marL="711615" indent="-355808" lvl="1">
              <a:lnSpc>
                <a:spcPts val="6559"/>
              </a:lnSpc>
              <a:buFont typeface="Arial"/>
              <a:buChar char="•"/>
            </a:pPr>
            <a:r>
              <a:rPr lang="en-US" sz="3296" spc="52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B</a:t>
            </a:r>
            <a:r>
              <a:rPr lang="en-US" sz="3296" spc="52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uilds transparency &amp; stronger community trust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54896" y="1254719"/>
            <a:ext cx="9578208" cy="947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6"/>
              </a:lnSpc>
            </a:pPr>
            <a:r>
              <a:rPr lang="en-US" b="true" sz="6800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Impact of the System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313708" y="3382822"/>
            <a:ext cx="6050522" cy="5717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6567"/>
              </a:lnSpc>
              <a:buFont typeface="Arial"/>
              <a:buChar char="•"/>
            </a:pPr>
            <a:r>
              <a:rPr lang="en-US" sz="3300" spc="52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Increased business for service providers prevent missing entries.</a:t>
            </a:r>
          </a:p>
          <a:p>
            <a:pPr algn="l" marL="712470" indent="-356235" lvl="1">
              <a:lnSpc>
                <a:spcPts val="6567"/>
              </a:lnSpc>
              <a:buFont typeface="Arial"/>
              <a:buChar char="•"/>
            </a:pPr>
            <a:r>
              <a:rPr lang="en-US" sz="3300" spc="52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Promotes d</a:t>
            </a:r>
            <a:r>
              <a:rPr lang="en-US" sz="3300" spc="52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igital adoption for everyday household services</a:t>
            </a:r>
          </a:p>
          <a:p>
            <a:pPr algn="l" marL="0" indent="0" lvl="0">
              <a:lnSpc>
                <a:spcPts val="6567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AAD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82017" y="3400568"/>
            <a:ext cx="11923966" cy="2888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60"/>
              </a:lnSpc>
            </a:pPr>
            <a:r>
              <a:rPr lang="en-US" b="true" sz="12023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 very much!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DAGyTV3ZjGQ</dc:identifier>
  <dcterms:modified xsi:type="dcterms:W3CDTF">2011-08-01T06:04:30Z</dcterms:modified>
  <cp:revision>1</cp:revision>
  <dc:title>Aditya Honnakasturi – 2SD23IS006 Pratham Manjunath Hegde – 2SD23IS034 Kiran Jantgal – 2SD24IS402 Pradyumna Naik – 2SD23IS032</dc:title>
</cp:coreProperties>
</file>